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926080" cy="7120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200400"/>
            <a:ext cx="4114800" cy="3810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66747C"/>
                </a:solidFill>
                <a:latin typeface="Century Gothic"/>
              </a:rPr>
              <a:t>Adoption de l'Intelligence Artificielle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37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7AB648"/>
                </a:solidFill>
                <a:latin typeface="Century Gothic"/>
              </a:rPr>
              <a:t>Consultation interne — Resultats &amp; plan d'action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47C"/>
                </a:solidFill>
                <a:latin typeface="Century Gothic"/>
              </a:rPr>
              <a:t>Poles BIM, Architecture, Suivi de Chantier, Economie de la Construction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6747C"/>
                </a:solidFill>
                <a:latin typeface="Century Gothic"/>
              </a:rPr>
              <a:t>Sites : Abidjan &amp; Cotonou    |    32 repondants    |    Mai 2026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100" b="0" i="1">
                <a:solidFill>
                  <a:srgbClr val="66747C"/>
                </a:solidFill>
                <a:latin typeface="Century Gothic"/>
              </a:rPr>
              <a:t>Document confidentiel — Koffi &amp; Diabate Group / Cellule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Synthese executive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B0C12"/>
                </a:solidFill>
                <a:latin typeface="Century Gothic"/>
              </a:rPr>
              <a:t>Une agence deja largement engagee dans l'IA. Le frein le plus cite est l'absence de frein : l'enjeu n'est pas de convaincre, mais d'outiller, de cadrer et de structurer la donnee.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2514600" cy="1371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AB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 i="0">
                <a:solidFill>
                  <a:srgbClr val="7AB648"/>
                </a:solidFill>
                <a:latin typeface="Century Gothic"/>
              </a:rPr>
              <a:t>81 %</a:t>
            </a:r>
          </a:p>
          <a:p>
            <a:pPr algn="ctr">
              <a:spcBef>
                <a:spcPts val="200"/>
              </a:spcBef>
            </a:pPr>
            <a:r>
              <a:rPr sz="1150" b="0" i="0">
                <a:solidFill>
                  <a:srgbClr val="66747C"/>
                </a:solidFill>
                <a:latin typeface="Century Gothic"/>
              </a:rPr>
              <a:t>utilisent deja l'IA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468880"/>
            <a:ext cx="2514600" cy="1371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AB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 i="0">
                <a:solidFill>
                  <a:srgbClr val="7AB648"/>
                </a:solidFill>
                <a:latin typeface="Century Gothic"/>
              </a:rPr>
              <a:t>47 %</a:t>
            </a:r>
          </a:p>
          <a:p>
            <a:pPr algn="ctr">
              <a:spcBef>
                <a:spcPts val="200"/>
              </a:spcBef>
            </a:pPr>
            <a:r>
              <a:rPr sz="1150" b="0" i="0">
                <a:solidFill>
                  <a:srgbClr val="66747C"/>
                </a:solidFill>
                <a:latin typeface="Century Gothic"/>
              </a:rPr>
              <a:t>usage regulier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2468880"/>
            <a:ext cx="2514600" cy="1371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AB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 i="0">
                <a:solidFill>
                  <a:srgbClr val="7AB648"/>
                </a:solidFill>
                <a:latin typeface="Century Gothic"/>
              </a:rPr>
              <a:t>15/15</a:t>
            </a:r>
          </a:p>
          <a:p>
            <a:pPr algn="ctr">
              <a:spcBef>
                <a:spcPts val="200"/>
              </a:spcBef>
            </a:pPr>
            <a:r>
              <a:rPr sz="1150" b="0" i="0">
                <a:solidFill>
                  <a:srgbClr val="66747C"/>
                </a:solidFill>
                <a:latin typeface="Century Gothic"/>
              </a:rPr>
              <a:t>favorables au chatbot chantier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14816" y="2468880"/>
            <a:ext cx="2560320" cy="1371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667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 i="0">
                <a:solidFill>
                  <a:srgbClr val="66747C"/>
                </a:solidFill>
                <a:latin typeface="Century Gothic"/>
              </a:rPr>
              <a:t>19</a:t>
            </a:r>
          </a:p>
          <a:p>
            <a:pPr algn="ctr">
              <a:spcBef>
                <a:spcPts val="200"/>
              </a:spcBef>
            </a:pPr>
            <a:r>
              <a:rPr sz="1150" b="0" i="0">
                <a:solidFill>
                  <a:srgbClr val="66747C"/>
                </a:solidFill>
                <a:latin typeface="Century Gothic"/>
              </a:rPr>
              <a:t>demandes de formation pratique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Le shadow AI est deja la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une dizaine d'outils utilises sur comptes personnels, sans cadre ni licences agence.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Le vrai chantier, c'est la donnee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capitalisation, base de ratios et traçabilite manquent ; l'IA ne vaudra que ce que vaut la donnee.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La gouvernance est demandee par la base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charte d'usage, outils valides et achetes, securite des donnees.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Methodologie &amp; echantillon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6766560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8016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Pole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Repondants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Profil dominant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Suivi de Chantier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6 doyens, 4 &lt; 10 ans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Production Architecture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4 doyens, 3 &lt; 5 ans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Economie de la Construction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Mixte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BIM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Direction (a relancer)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32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737360"/>
            <a:ext cx="3657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Lecture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Questionnaire structure : echelles d'utilite 1 a 5, choix multiples et questions ouvertes.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504D"/>
                </a:solidFill>
                <a:latin typeface="Century Gothic"/>
              </a:rPr>
              <a:t>— 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Le pole BIM ne compte qu'un repondant (la direction).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747C"/>
                </a:solidFill>
                <a:latin typeface="Century Gothic"/>
              </a:rPr>
              <a:t>Ses resultats sont indicatifs ; une relance sur echantillon elargi est recommandee.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Photographie de la maturite IA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548640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18872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Usage declare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Repond.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Part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Oui, regulierement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47 %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Oui, occasionnellement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11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34 %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Non, mais a deja essaye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16 %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Non, jamais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3 %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6916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Ce que cela signifie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81 % des repondants utilisent deja l'IA dans leur travail.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Un seul refractaire assume sur tout le panel.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La population est prete : le besoin est d'encadrer et d'outiller, pas de convaincre.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Outils deja en usage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10607040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463040"/>
                <a:gridCol w="49377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Outil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Citations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Usage observe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ChatGPT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26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Standard de fait, transversal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Copilot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13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Fort en Chantier (ecosysteme Microsoft)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Claude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Profils avances : redaction &amp; analyse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Gemini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Architecture &amp; Economie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Google AI Studio / Rendair / Krea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2 a 4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Rendu &amp; visuel architectural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DeepSeek / NotebookLM / Grok / Mammouth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 a 2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Veille des power users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747C"/>
                </a:solidFill>
                <a:latin typeface="Century Gothic"/>
              </a:rPr>
              <a:t>Une dizaine d'outils en circulation, majoritairement sur comptes personnels : a regulariser via des licences agence.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Pole Production Architecture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640080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entury Gothic"/>
                        </a:rPr>
                        <a:t>Tache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entury Gothic"/>
                        </a:rPr>
                        <a:t>Note /5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Production de rendus &amp; visuels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4,50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Redaction (notices, CCTP, memoires)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3,80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Recherche de references archi.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3,80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Verification reglementaire (ERP)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3,44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Mise en page livrables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3,20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Coordination entre phases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3,00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691640"/>
            <a:ext cx="4023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Points cles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Phase chronophage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PC / DCE (6/10).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Priorite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redaction de notices et documents reglementaires.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Charge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la moitie y passe plus de 5h/semaine.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Pre-chiffrage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accepte avec prudence, apres validation economiste (8/10).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Pole Suivi de Chantier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640080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entury Gothic"/>
                        </a:rPr>
                        <a:t>Tache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entury Gothic"/>
                        </a:rPr>
                        <a:t>Note /5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Capitalisation des enseignements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3,93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Acces / recherche documents chantier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3,73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Redaction &amp; diffusion des CR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3,73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Comparaison prevu / realise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3,60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Coordination corps d'etat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3,36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Suivi non-conformites &amp; reserves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3,20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691640"/>
            <a:ext cx="4023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Insights forts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Consensus total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15/15 veulent un chatbot du dossier de chantier.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0504D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Alerte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14/15 jugent la traçabilite des decisions de conception insuffisante.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Besoin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une memoire des chantiers precedents KDG.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Pole Economie de la Construction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640080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entury Gothic"/>
                        </a:rPr>
                        <a:t>Tache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entury Gothic"/>
                        </a:rPr>
                        <a:t>Note /5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Redaction bordereaux &amp; docs admin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4,60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Analyse comparative offres (DCE)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4,17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Structuration de la DPGF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3,67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Production de ratios de cout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3,67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Extraction des quantites (plans)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3,40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Suivi financier marches &amp; avenants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B0C12"/>
                          </a:solidFill>
                          <a:latin typeface="Century Gothic"/>
                        </a:rPr>
                        <a:t>3,00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691640"/>
            <a:ext cx="4023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Points cles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Erreurs n.1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revisions liees aux modifications de conception.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0504D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Bloquant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pas de base de ratios interne exploitable.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300" b="1" i="0">
                <a:solidFill>
                  <a:srgbClr val="0B0C12"/>
                </a:solidFill>
                <a:latin typeface="Century Gothic"/>
              </a:rPr>
              <a:t>BIM (n=1) : </a:t>
            </a:r>
            <a:r>
              <a:rPr sz="1300" b="0" i="0">
                <a:solidFill>
                  <a:srgbClr val="0B0C12"/>
                </a:solidFill>
                <a:latin typeface="Century Gothic"/>
              </a:rPr>
              <a:t>limite = familles heterogenes / LOD variable ; standards non appliques.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Insights transversaux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98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Le fil rouge, c'est la donnee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Chantier, Economie et BIM pointent le meme manque (memoire, ratios, standards). Structurer la donnee est le prealable a tout.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Une demande claire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la formation pratique en petits groupes (19 citations) domine tous les autres besoins.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Maturite a deux vitesses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des power users avances face a une majorite en attente de cadre. Sans action, l'ecart se creuse.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Gouvernance reclamee par la base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charte, outils valides, securite des donnees, validation humaine.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L'IA comme liant inter-poles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convergence vers une base / plateforme commune conception-chiffrage-execution.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Un jugement mur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assistance et gain de temps, sans renoncer a la responsabilite humaine.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Freins &amp; leviers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10607040" cy="2935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/>
                <a:gridCol w="53035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Freins (par frequence)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Leviers demandes (par frequence)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Aucun frein — prets a adopter (10)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Formation pratique en petits groupes (19)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Manque de formation / prise en main (7)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Pilote concret sur un projet KDG (8)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Confidentialite des donnees (6)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Exemples de resultats du metier (5)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Doute fiabilite / precision (6)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Accompagnement individuel (1)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Manque de temps pour apprendre (4)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Maquette BIM bien renseignee (prerequis)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6747C"/>
                </a:solidFill>
                <a:latin typeface="Century Gothic"/>
              </a:rPr>
              <a:t>Aucun frein n'est un rejet culturel : tous sont adressables par l'organisation.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Plan d'action — Horizon 1 (0 a 3 mois)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Cadrer &amp; lancer — les quick wins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57400"/>
          <a:ext cx="1060704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/>
                <a:gridCol w="47548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Action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Objectif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Officialiser la Cellule IA (sponsor + 1 referent par pole)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Gouvernance et portage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Publier une charte d'usage de l'IA (1 page)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Securite donnees, validation humaine, zones rouges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Souscrire des licences agence (ChatGPT / Claude / Copilot)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Sortir du shadow AI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Lancer la formation pratique en petits groupes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Repondre au levier n.1 (19 demandes)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Plan d'action — Horizon 2 (3 a 9 mois)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Piloter sur les cas d'usage a fort consensus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57400"/>
          <a:ext cx="1060704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/>
                <a:gridCol w="1645920"/>
                <a:gridCol w="31089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Pilote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Pole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entury Gothic"/>
                        </a:rPr>
                        <a:t>Pourquoi</a:t>
                      </a:r>
                    </a:p>
                  </a:txBody>
                  <a:tcPr anchor="ctr" marT="25400" marB="25400" marL="76200" marR="76200">
                    <a:solidFill>
                      <a:srgbClr val="7AB6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Chatbot dossier de chantier (RAG : plans, CCTP, PV, CR)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Chantier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15/15 favorables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Assistant redaction notices / CCTP / bordereaux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Archi + Eco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B0C12"/>
                          </a:solidFill>
                          <a:latin typeface="Century Gothic"/>
                        </a:rPr>
                        <a:t>Notes 3,8 a 4,6</a:t>
                      </a:r>
                    </a:p>
                  </a:txBody>
                  <a:tcPr anchor="ctr" marT="12700" marB="12700" marL="76200" marR="762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0233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6747C"/>
                </a:solidFill>
                <a:latin typeface="Century Gothic"/>
              </a:rPr>
              <a:t>Chantiers-tests cites par les equipes 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B0C12"/>
                </a:solidFill>
                <a:latin typeface="Century Gothic"/>
              </a:rPr>
              <a:t>Danga Park, Sankofa, Abatta Village, JIK, QCC Cotonou, logements OUEDO.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Plan d'action — Horizon 3 (6 a 18 mois)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Construire l'actif durable : la donnee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98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Base de donnees centralisee KDG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ratios par typologie / lot / m2, retours d'experience, historique des decisions, bibliotheque CCTP.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Discipline BIM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standardiser familles, gabarits et LOD ; relancer la consultation BIM.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Traçabilite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formaliser le circuit conception vers execution. Le process d'abord, l'IA ensuite.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500" b="1" i="0">
                <a:solidFill>
                  <a:srgbClr val="0B0C12"/>
                </a:solidFill>
                <a:latin typeface="Century Gothic"/>
              </a:rPr>
              <a:t>Mesurer : </a:t>
            </a:r>
            <a:r>
              <a:rPr sz="1500" b="0" i="0">
                <a:solidFill>
                  <a:srgbClr val="0B0C12"/>
                </a:solidFill>
                <a:latin typeface="Century Gothic"/>
              </a:rPr>
              <a:t>heures economisees, delais d'etudes, taux d'adoption par pole.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502920"/>
          </a:xfrm>
          <a:prstGeom prst="rect">
            <a:avLst/>
          </a:prstGeom>
          <a:solidFill>
            <a:srgbClr val="7AB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B648"/>
                </a:solidFill>
                <a:latin typeface="Century Gothic"/>
              </a:rPr>
              <a:t>08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6747C"/>
                </a:solidFill>
                <a:latin typeface="Century Gothic"/>
              </a:rPr>
              <a:t>En synthese</a:t>
            </a:r>
          </a:p>
        </p:txBody>
      </p:sp>
      <p:pic>
        <p:nvPicPr>
          <p:cNvPr id="5" name="Picture 4" descr="Logo K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280160" cy="311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644652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00" b="0" i="1">
                <a:solidFill>
                  <a:srgbClr val="66747C"/>
                </a:solidFill>
                <a:latin typeface="Century Gothic"/>
              </a:rPr>
              <a:t>Cellule IA — Confidentiel —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1" i="0">
                <a:solidFill>
                  <a:srgbClr val="66747C"/>
                </a:solidFill>
                <a:latin typeface="Century Gothic"/>
              </a:rPr>
              <a:t>Le terrain est exceptionnellement favorable.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600" b="0" i="0">
                <a:solidFill>
                  <a:srgbClr val="0B0C12"/>
                </a:solidFill>
                <a:latin typeface="Century Gothic"/>
              </a:rPr>
              <a:t>Adhesion forte, freins faibles, usages reels deja en place.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600" b="0" i="0">
                <a:solidFill>
                  <a:srgbClr val="0B0C12"/>
                </a:solidFill>
                <a:latin typeface="Century Gothic"/>
              </a:rPr>
              <a:t>Deux pilotes evidents : chatbot chantier et assistant de redaction.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600" b="0" i="0">
                <a:solidFill>
                  <a:srgbClr val="0B0C12"/>
                </a:solidFill>
                <a:latin typeface="Century Gothic"/>
              </a:rPr>
              <a:t>Une condition de reussite : structurer et capitaliser la donnee.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B648"/>
                </a:solidFill>
                <a:latin typeface="Century Gothic"/>
              </a:rPr>
              <a:t>—  </a:t>
            </a:r>
            <a:r>
              <a:rPr sz="1600" b="0" i="0">
                <a:solidFill>
                  <a:srgbClr val="0B0C12"/>
                </a:solidFill>
                <a:latin typeface="Century Gothic"/>
              </a:rPr>
              <a:t>Une methode : commencer simple et cible, garder l'humain responsable.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